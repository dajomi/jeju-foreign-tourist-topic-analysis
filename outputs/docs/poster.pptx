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0279975" cy="42808525"/>
  <p:notesSz cx="6788150" cy="9923463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483">
          <p15:clr>
            <a:srgbClr val="A4A3A4"/>
          </p15:clr>
        </p15:guide>
        <p15:guide id="2" pos="9537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9" roundtripDataSignature="AMtx7mjx++g9ZaqLkvyHkGaNFDXr2RBGD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B523CB8-A3DD-4EEA-BDBF-DB91CAE7AABC}">
  <a:tblStyle styleId="{FB523CB8-A3DD-4EEA-BDBF-DB91CAE7AABC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30" y="-4858"/>
      </p:cViewPr>
      <p:guideLst>
        <p:guide orient="horz" pos="13483"/>
        <p:guide pos="953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9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41532" cy="4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5047" y="0"/>
            <a:ext cx="2941532" cy="4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078038" y="742950"/>
            <a:ext cx="2632075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78815" y="4714094"/>
            <a:ext cx="5430520" cy="446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424919"/>
            <a:ext cx="2941532" cy="49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5047" y="9424919"/>
            <a:ext cx="2941532" cy="49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Gulim"/>
              <a:ea typeface="Gulim"/>
              <a:cs typeface="Gulim"/>
              <a:sym typeface="Gulim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078038" y="742950"/>
            <a:ext cx="2632075" cy="37226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86" name="Google Shape;86;p1:notes"/>
          <p:cNvSpPr txBox="1">
            <a:spLocks noGrp="1"/>
          </p:cNvSpPr>
          <p:nvPr>
            <p:ph type="body" idx="1"/>
          </p:nvPr>
        </p:nvSpPr>
        <p:spPr>
          <a:xfrm>
            <a:off x="678815" y="4714094"/>
            <a:ext cx="5430520" cy="4465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7" name="Google Shape;87;p1:notes"/>
          <p:cNvSpPr txBox="1">
            <a:spLocks noGrp="1"/>
          </p:cNvSpPr>
          <p:nvPr>
            <p:ph type="sldNum" idx="12"/>
          </p:nvPr>
        </p:nvSpPr>
        <p:spPr>
          <a:xfrm>
            <a:off x="3845047" y="9424919"/>
            <a:ext cx="2941532" cy="496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4225" tIns="47100" rIns="94225" bIns="471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body" idx="1"/>
          </p:nvPr>
        </p:nvSpPr>
        <p:spPr>
          <a:xfrm>
            <a:off x="1514475" y="9988550"/>
            <a:ext cx="27251025" cy="2825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ctrTitle"/>
          </p:nvPr>
        </p:nvSpPr>
        <p:spPr>
          <a:xfrm>
            <a:off x="2271713" y="13298488"/>
            <a:ext cx="25736550" cy="917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4541838" y="24258588"/>
            <a:ext cx="21196300" cy="10939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2920"/>
              </a:spcBef>
              <a:spcAft>
                <a:spcPts val="0"/>
              </a:spcAft>
              <a:buClr>
                <a:schemeClr val="dk1"/>
              </a:buClr>
              <a:buSzPts val="14600"/>
              <a:buFont typeface="Gulim"/>
              <a:buNone/>
              <a:defRPr/>
            </a:lvl1pPr>
            <a:lvl2pPr lvl="1" algn="ctr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Gulim"/>
              <a:buNone/>
              <a:defRPr/>
            </a:lvl2pPr>
            <a:lvl3pPr lvl="2" algn="ctr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Gulim"/>
              <a:buNone/>
              <a:defRPr/>
            </a:lvl3pPr>
            <a:lvl4pPr lvl="3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4pPr>
            <a:lvl5pPr lvl="4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5pPr>
            <a:lvl6pPr lvl="5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6pPr>
            <a:lvl7pPr lvl="6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7pPr>
            <a:lvl8pPr lvl="7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8pPr>
            <a:lvl9pPr lvl="8" algn="ctr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392363" y="27508200"/>
            <a:ext cx="25738137" cy="850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392363" y="18143538"/>
            <a:ext cx="25738137" cy="9364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/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/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514475" y="9988550"/>
            <a:ext cx="13549313" cy="2825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5216188" y="9988550"/>
            <a:ext cx="13549312" cy="2825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14475" y="9582150"/>
            <a:ext cx="13377863" cy="399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514475" y="13576300"/>
            <a:ext cx="13377863" cy="246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5381288" y="9582150"/>
            <a:ext cx="13384212" cy="3994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5381288" y="13576300"/>
            <a:ext cx="13384212" cy="246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Gulim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ulim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514475" y="1704975"/>
            <a:ext cx="9961563" cy="7253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1837988" y="1704975"/>
            <a:ext cx="16927512" cy="36534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ulim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Gulim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ulim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Gulim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514475" y="8958263"/>
            <a:ext cx="9961563" cy="292814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5935663" y="29965650"/>
            <a:ext cx="18167350" cy="3538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5935663" y="3824288"/>
            <a:ext cx="18167350" cy="2568575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5935663" y="33504188"/>
            <a:ext cx="18167350" cy="502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Gulim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Gulim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Gulim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1014413" y="10488613"/>
            <a:ext cx="28251150" cy="2725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7096919" y="16571119"/>
            <a:ext cx="36525200" cy="681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6604793" y="9833769"/>
            <a:ext cx="36525200" cy="202866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514475" y="1714500"/>
            <a:ext cx="27251025" cy="7134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0100" b="0" i="0" u="none" strike="noStrike" cap="none">
                <a:solidFill>
                  <a:schemeClr val="dk2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514475" y="9988550"/>
            <a:ext cx="27251025" cy="28251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457200" marR="0" lvl="0" indent="-1155700" algn="l" rtl="0">
              <a:lnSpc>
                <a:spcPct val="100000"/>
              </a:lnSpc>
              <a:spcBef>
                <a:spcPts val="2920"/>
              </a:spcBef>
              <a:spcAft>
                <a:spcPts val="0"/>
              </a:spcAft>
              <a:buClr>
                <a:schemeClr val="dk1"/>
              </a:buClr>
              <a:buSzPts val="14600"/>
              <a:buFont typeface="Gulim"/>
              <a:buChar char="•"/>
              <a:defRPr sz="146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914400" marR="0" lvl="1" indent="-1041400" algn="l" rtl="0">
              <a:lnSpc>
                <a:spcPct val="100000"/>
              </a:lnSpc>
              <a:spcBef>
                <a:spcPts val="256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Gulim"/>
              <a:buChar char="–"/>
              <a:defRPr sz="128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927100" algn="l" rtl="0">
              <a:lnSpc>
                <a:spcPct val="100000"/>
              </a:lnSpc>
              <a:spcBef>
                <a:spcPts val="2200"/>
              </a:spcBef>
              <a:spcAft>
                <a:spcPts val="0"/>
              </a:spcAft>
              <a:buClr>
                <a:schemeClr val="dk1"/>
              </a:buClr>
              <a:buSzPts val="11000"/>
              <a:buFont typeface="Gulim"/>
              <a:buChar char="•"/>
              <a:defRPr sz="1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–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»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»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»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»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806450" algn="l" rtl="0">
              <a:lnSpc>
                <a:spcPct val="100000"/>
              </a:lnSpc>
              <a:spcBef>
                <a:spcPts val="1820"/>
              </a:spcBef>
              <a:spcAft>
                <a:spcPts val="0"/>
              </a:spcAft>
              <a:buClr>
                <a:schemeClr val="dk1"/>
              </a:buClr>
              <a:buSzPts val="9100"/>
              <a:buFont typeface="Gulim"/>
              <a:buChar char="»"/>
              <a:defRPr sz="91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51447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0345738" y="38984238"/>
            <a:ext cx="9588500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8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1701125" y="38984238"/>
            <a:ext cx="7064375" cy="29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7625" tIns="208800" rIns="417625" bIns="20880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400"/>
              <a:buFont typeface="Arial"/>
              <a:buNone/>
              <a:defRPr sz="64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g"/><Relationship Id="rId3" Type="http://schemas.openxmlformats.org/officeDocument/2006/relationships/image" Target="../media/image1.pn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/>
          <p:nvPr/>
        </p:nvSpPr>
        <p:spPr>
          <a:xfrm>
            <a:off x="75" y="-18331"/>
            <a:ext cx="30279900" cy="4331407"/>
          </a:xfrm>
          <a:prstGeom prst="rect">
            <a:avLst/>
          </a:prstGeom>
          <a:gradFill>
            <a:gsLst>
              <a:gs pos="0">
                <a:srgbClr val="0C5B4D"/>
              </a:gs>
              <a:gs pos="1000">
                <a:srgbClr val="0C5B4D"/>
              </a:gs>
              <a:gs pos="34000">
                <a:srgbClr val="166B5B"/>
              </a:gs>
              <a:gs pos="100000">
                <a:srgbClr val="1B816E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endParaRPr sz="7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7200" b="1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0" y="-448508"/>
            <a:ext cx="184731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</a:pPr>
            <a:endParaRPr sz="8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0" y="-448508"/>
            <a:ext cx="184731" cy="13542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Arial"/>
              <a:buNone/>
            </a:pPr>
            <a:endParaRPr sz="8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958216" y="3185068"/>
            <a:ext cx="314676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경희대학교 지리학과 김수빈 김다정 김진성 박채은 한서영 서지우</a:t>
            </a:r>
            <a:endParaRPr/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endParaRPr sz="5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83075" y="-8100700"/>
            <a:ext cx="1383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3775500" y="758816"/>
            <a:ext cx="26137800" cy="22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LDA 토픽모델링을 이용한 제주도 외국인 관광객 여행 테마 분석</a:t>
            </a:r>
            <a:endParaRPr sz="68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68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-Trip Advisor 리뷰 데이터를 바탕으로-</a:t>
            </a:r>
            <a:endParaRPr/>
          </a:p>
        </p:txBody>
      </p:sp>
      <p:sp>
        <p:nvSpPr>
          <p:cNvPr id="95" name="Google Shape;95;p1"/>
          <p:cNvSpPr txBox="1"/>
          <p:nvPr/>
        </p:nvSpPr>
        <p:spPr>
          <a:xfrm>
            <a:off x="932559" y="33190773"/>
            <a:ext cx="17661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lang="en-US" sz="60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"/>
          <p:cNvPicPr preferRelativeResize="0"/>
          <p:nvPr/>
        </p:nvPicPr>
        <p:blipFill rotWithShape="1">
          <a:blip r:embed="rId3">
            <a:alphaModFix/>
          </a:blip>
          <a:srcRect l="26733" t="26989" r="29215" b="35001"/>
          <a:stretch/>
        </p:blipFill>
        <p:spPr>
          <a:xfrm>
            <a:off x="208351" y="983447"/>
            <a:ext cx="4198154" cy="256080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" name="Google Shape;97;p1"/>
          <p:cNvGrpSpPr/>
          <p:nvPr/>
        </p:nvGrpSpPr>
        <p:grpSpPr>
          <a:xfrm>
            <a:off x="357510" y="4637869"/>
            <a:ext cx="14178333" cy="1104651"/>
            <a:chOff x="291386" y="5415064"/>
            <a:chExt cx="13826226" cy="1104651"/>
          </a:xfrm>
        </p:grpSpPr>
        <p:grpSp>
          <p:nvGrpSpPr>
            <p:cNvPr id="98" name="Google Shape;98;p1"/>
            <p:cNvGrpSpPr/>
            <p:nvPr/>
          </p:nvGrpSpPr>
          <p:grpSpPr>
            <a:xfrm>
              <a:off x="291386" y="5415064"/>
              <a:ext cx="13826226" cy="1104651"/>
              <a:chOff x="450016" y="5424784"/>
              <a:chExt cx="13937093" cy="1104651"/>
            </a:xfrm>
          </p:grpSpPr>
          <p:sp>
            <p:nvSpPr>
              <p:cNvPr id="99" name="Google Shape;99;p1"/>
              <p:cNvSpPr/>
              <p:nvPr/>
            </p:nvSpPr>
            <p:spPr>
              <a:xfrm>
                <a:off x="1024736" y="6381754"/>
                <a:ext cx="13362373" cy="144083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5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" name="Google Shape;100;p1"/>
              <p:cNvSpPr/>
              <p:nvPr/>
            </p:nvSpPr>
            <p:spPr>
              <a:xfrm>
                <a:off x="450016" y="5424784"/>
                <a:ext cx="1017836" cy="1104651"/>
              </a:xfrm>
              <a:prstGeom prst="roundRect">
                <a:avLst>
                  <a:gd name="adj" fmla="val 26100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7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1" name="Google Shape;101;p1"/>
            <p:cNvSpPr txBox="1"/>
            <p:nvPr/>
          </p:nvSpPr>
          <p:spPr>
            <a:xfrm>
              <a:off x="467244" y="5469050"/>
              <a:ext cx="6483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lang="en-US" sz="5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1314796" y="5428696"/>
              <a:ext cx="113295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연구</a:t>
              </a:r>
              <a:r>
                <a:rPr lang="en-US" sz="5500"/>
                <a:t>목적</a:t>
              </a:r>
              <a:endParaRPr sz="5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>
            <a:off x="357507" y="10236214"/>
            <a:ext cx="14256735" cy="1113678"/>
            <a:chOff x="291386" y="5406037"/>
            <a:chExt cx="13966237" cy="1113678"/>
          </a:xfrm>
        </p:grpSpPr>
        <p:grpSp>
          <p:nvGrpSpPr>
            <p:cNvPr id="104" name="Google Shape;104;p1"/>
            <p:cNvGrpSpPr/>
            <p:nvPr/>
          </p:nvGrpSpPr>
          <p:grpSpPr>
            <a:xfrm>
              <a:off x="291386" y="5415064"/>
              <a:ext cx="13966237" cy="1104651"/>
              <a:chOff x="450016" y="5424784"/>
              <a:chExt cx="14078226" cy="1104651"/>
            </a:xfrm>
          </p:grpSpPr>
          <p:sp>
            <p:nvSpPr>
              <p:cNvPr id="105" name="Google Shape;105;p1"/>
              <p:cNvSpPr/>
              <p:nvPr/>
            </p:nvSpPr>
            <p:spPr>
              <a:xfrm>
                <a:off x="1105000" y="6380260"/>
                <a:ext cx="13423242" cy="1440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5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"/>
              <p:cNvSpPr/>
              <p:nvPr/>
            </p:nvSpPr>
            <p:spPr>
              <a:xfrm>
                <a:off x="450016" y="5424784"/>
                <a:ext cx="1017836" cy="1104651"/>
              </a:xfrm>
              <a:prstGeom prst="roundRect">
                <a:avLst>
                  <a:gd name="adj" fmla="val 26100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7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07" name="Google Shape;107;p1"/>
            <p:cNvSpPr txBox="1"/>
            <p:nvPr/>
          </p:nvSpPr>
          <p:spPr>
            <a:xfrm>
              <a:off x="473116" y="5506779"/>
              <a:ext cx="6483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lang="en-US" sz="5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1309496" y="5406037"/>
              <a:ext cx="113295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선행연구</a:t>
              </a:r>
              <a:endParaRPr sz="5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9" name="Google Shape;109;p1"/>
          <p:cNvSpPr/>
          <p:nvPr/>
        </p:nvSpPr>
        <p:spPr>
          <a:xfrm>
            <a:off x="0" y="41625998"/>
            <a:ext cx="30279900" cy="1182527"/>
          </a:xfrm>
          <a:prstGeom prst="rect">
            <a:avLst/>
          </a:prstGeom>
          <a:gradFill>
            <a:gsLst>
              <a:gs pos="0">
                <a:srgbClr val="0C5B4D"/>
              </a:gs>
              <a:gs pos="1000">
                <a:srgbClr val="0C5B4D"/>
              </a:gs>
              <a:gs pos="34000">
                <a:srgbClr val="166B5B"/>
              </a:gs>
              <a:gs pos="100000">
                <a:srgbClr val="1B816E"/>
              </a:gs>
            </a:gsLst>
            <a:lin ang="162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</a:pPr>
            <a:endParaRPr sz="76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br>
              <a:rPr lang="en-US" sz="1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endParaRPr sz="7200" b="1" i="0" u="none" strike="noStrike" cap="none">
              <a:solidFill>
                <a:srgbClr val="92D05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0" name="Google Shape;110;p1"/>
          <p:cNvGrpSpPr/>
          <p:nvPr/>
        </p:nvGrpSpPr>
        <p:grpSpPr>
          <a:xfrm>
            <a:off x="357510" y="18279536"/>
            <a:ext cx="14256897" cy="1143957"/>
            <a:chOff x="291386" y="5375758"/>
            <a:chExt cx="13966237" cy="1143957"/>
          </a:xfrm>
        </p:grpSpPr>
        <p:grpSp>
          <p:nvGrpSpPr>
            <p:cNvPr id="111" name="Google Shape;111;p1"/>
            <p:cNvGrpSpPr/>
            <p:nvPr/>
          </p:nvGrpSpPr>
          <p:grpSpPr>
            <a:xfrm>
              <a:off x="291386" y="5415064"/>
              <a:ext cx="13966237" cy="1104651"/>
              <a:chOff x="450016" y="5424784"/>
              <a:chExt cx="14078226" cy="1104651"/>
            </a:xfrm>
          </p:grpSpPr>
          <p:sp>
            <p:nvSpPr>
              <p:cNvPr id="112" name="Google Shape;112;p1"/>
              <p:cNvSpPr/>
              <p:nvPr/>
            </p:nvSpPr>
            <p:spPr>
              <a:xfrm>
                <a:off x="1105000" y="6380260"/>
                <a:ext cx="13423242" cy="144000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5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"/>
              <p:cNvSpPr/>
              <p:nvPr/>
            </p:nvSpPr>
            <p:spPr>
              <a:xfrm>
                <a:off x="450016" y="5424784"/>
                <a:ext cx="1017836" cy="1104651"/>
              </a:xfrm>
              <a:prstGeom prst="roundRect">
                <a:avLst>
                  <a:gd name="adj" fmla="val 26100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7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14" name="Google Shape;114;p1"/>
            <p:cNvSpPr txBox="1"/>
            <p:nvPr/>
          </p:nvSpPr>
          <p:spPr>
            <a:xfrm>
              <a:off x="473116" y="5506779"/>
              <a:ext cx="6483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lang="en-US" sz="5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 txBox="1"/>
            <p:nvPr/>
          </p:nvSpPr>
          <p:spPr>
            <a:xfrm>
              <a:off x="1298781" y="5375758"/>
              <a:ext cx="11329535" cy="9386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연구내용</a:t>
              </a:r>
              <a:endParaRPr sz="5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6" name="Google Shape;116;p1"/>
          <p:cNvGrpSpPr/>
          <p:nvPr/>
        </p:nvGrpSpPr>
        <p:grpSpPr>
          <a:xfrm>
            <a:off x="15204303" y="35934072"/>
            <a:ext cx="14502540" cy="1109148"/>
            <a:chOff x="291386" y="5415064"/>
            <a:chExt cx="14860682" cy="1109148"/>
          </a:xfrm>
        </p:grpSpPr>
        <p:grpSp>
          <p:nvGrpSpPr>
            <p:cNvPr id="117" name="Google Shape;117;p1"/>
            <p:cNvGrpSpPr/>
            <p:nvPr/>
          </p:nvGrpSpPr>
          <p:grpSpPr>
            <a:xfrm>
              <a:off x="291386" y="5415064"/>
              <a:ext cx="14860682" cy="1109148"/>
              <a:chOff x="450016" y="5424784"/>
              <a:chExt cx="14979843" cy="1109148"/>
            </a:xfrm>
          </p:grpSpPr>
          <p:sp>
            <p:nvSpPr>
              <p:cNvPr id="118" name="Google Shape;118;p1"/>
              <p:cNvSpPr/>
              <p:nvPr/>
            </p:nvSpPr>
            <p:spPr>
              <a:xfrm>
                <a:off x="1105000" y="6380260"/>
                <a:ext cx="14324859" cy="153672"/>
              </a:xfrm>
              <a:prstGeom prst="roundRect">
                <a:avLst>
                  <a:gd name="adj" fmla="val 16667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5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"/>
              <p:cNvSpPr/>
              <p:nvPr/>
            </p:nvSpPr>
            <p:spPr>
              <a:xfrm>
                <a:off x="450016" y="5424784"/>
                <a:ext cx="1017836" cy="1104651"/>
              </a:xfrm>
              <a:prstGeom prst="roundRect">
                <a:avLst>
                  <a:gd name="adj" fmla="val 26100"/>
                </a:avLst>
              </a:prstGeom>
              <a:gradFill>
                <a:gsLst>
                  <a:gs pos="0">
                    <a:srgbClr val="0C5B4D"/>
                  </a:gs>
                  <a:gs pos="1000">
                    <a:srgbClr val="0C5B4D"/>
                  </a:gs>
                  <a:gs pos="27000">
                    <a:srgbClr val="166B5B"/>
                  </a:gs>
                  <a:gs pos="100000">
                    <a:srgbClr val="1B816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5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8200"/>
                  <a:buFont typeface="Gulim"/>
                  <a:buNone/>
                </a:pPr>
                <a:endParaRPr sz="5500" b="1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20" name="Google Shape;120;p1"/>
            <p:cNvSpPr txBox="1"/>
            <p:nvPr/>
          </p:nvSpPr>
          <p:spPr>
            <a:xfrm>
              <a:off x="473116" y="5506779"/>
              <a:ext cx="6483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500"/>
                <a:buFont typeface="Arial"/>
                <a:buNone/>
              </a:pPr>
              <a:r>
                <a:rPr lang="en-US" sz="5500" b="1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sz="5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1290936" y="5416230"/>
              <a:ext cx="11329500" cy="93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5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결론</a:t>
              </a:r>
              <a:endParaRPr sz="5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2" name="Google Shape;122;p1"/>
          <p:cNvSpPr txBox="1"/>
          <p:nvPr/>
        </p:nvSpPr>
        <p:spPr>
          <a:xfrm>
            <a:off x="470528" y="11560880"/>
            <a:ext cx="13798800" cy="6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제주도 외국인 관광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외국인 관광객은 여행사 </a:t>
            </a:r>
            <a:r>
              <a:rPr lang="en-US" sz="3200"/>
              <a:t>이용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및 인터넷 검색으로 </a:t>
            </a:r>
            <a:r>
              <a:rPr lang="en-US" sz="3200"/>
              <a:t>관광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정보</a:t>
            </a:r>
            <a:r>
              <a:rPr lang="en-US" sz="3200"/>
              <a:t> 습득</a:t>
            </a:r>
            <a:endParaRPr sz="320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방문 목적</a:t>
            </a:r>
            <a:r>
              <a:rPr lang="en-US" sz="3200"/>
              <a:t>에서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자연 경관 감상</a:t>
            </a:r>
            <a:r>
              <a:rPr lang="en-US" sz="3200"/>
              <a:t>의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3200"/>
              <a:t>비중 높음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(이희정 외, 2017)</a:t>
            </a:r>
            <a:endParaRPr/>
          </a:p>
          <a:p>
            <a:pPr marL="457200" marR="0" lvl="0" indent="-4000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외국인 관광객의 </a:t>
            </a:r>
            <a:r>
              <a:rPr lang="en-US" sz="3200"/>
              <a:t>관점에서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제주도 관광의 강점은 자연경관, 쇼핑</a:t>
            </a:r>
            <a:r>
              <a:rPr lang="en-US" sz="3200"/>
              <a:t>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(제주관광공사, 2020)</a:t>
            </a:r>
            <a:endParaRPr/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Noto Sans Symbols"/>
              <a:buChar char="▪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LDA(잠재 디리클레 할당)</a:t>
            </a:r>
            <a:endParaRPr/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토픽 모델링은 비구조화된 텍스트 문서에서</a:t>
            </a:r>
            <a:r>
              <a:rPr lang="en-US" sz="3200"/>
              <a:t>의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새로운 정보 추출</a:t>
            </a:r>
            <a:r>
              <a:rPr lang="en-US" sz="3200"/>
              <a:t>과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특정 분야의 주제 파악</a:t>
            </a:r>
            <a:r>
              <a:rPr lang="en-US" sz="3200"/>
              <a:t>에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효과적인 수단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LDA 토픽모델링은 텍스트 문서 내의 잠재된 토픽을 추정하는 기법으로, 사용자가 토픽의 수나 단어의 수를 임의로 결정할 수 있다는 장점이 존재 </a:t>
            </a:r>
            <a:r>
              <a:rPr lang="en-US"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(안성주, 2018)</a:t>
            </a:r>
            <a:endParaRPr/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"/>
          <p:cNvSpPr txBox="1"/>
          <p:nvPr/>
        </p:nvSpPr>
        <p:spPr>
          <a:xfrm>
            <a:off x="661155" y="40452531"/>
            <a:ext cx="138747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* </a:t>
            </a:r>
            <a:r>
              <a:rPr lang="en-US" sz="2800"/>
              <a:t>유의미한 대표성을 보이지 않는 </a:t>
            </a:r>
            <a:r>
              <a:rPr lang="en-US"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두 개를 제외하고 총 4개의 Topic만을 이용해 연구를 진행</a:t>
            </a:r>
            <a:endParaRPr sz="2800"/>
          </a:p>
        </p:txBody>
      </p:sp>
      <p:sp>
        <p:nvSpPr>
          <p:cNvPr id="124" name="Google Shape;124;p1"/>
          <p:cNvSpPr txBox="1"/>
          <p:nvPr/>
        </p:nvSpPr>
        <p:spPr>
          <a:xfrm>
            <a:off x="545078" y="28036752"/>
            <a:ext cx="138171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14350" marR="0" lvl="0" indent="-5143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AutoNum type="arabicPeriod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리뷰 데이터 수집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Trip Advisor에 등재된 360개의 제주도 관광명소에 있는 외국인 리뷰 데이터를 크롤링</a:t>
            </a:r>
            <a:r>
              <a:rPr lang="en-US" sz="3200"/>
              <a:t> 후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외국인 관광객 리뷰 데이터베이스 구축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LDA 토픽모델링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추출된 6개의 Topic을 키워드</a:t>
            </a:r>
            <a:r>
              <a:rPr lang="en-US" sz="3200"/>
              <a:t> 간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의미 관계를 기반으로 해석한 뒤, Trip Advisor에서 제시하는 여러 관광 테마와 대응하여 Topic 이름들을 지정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"/>
          <p:cNvSpPr txBox="1"/>
          <p:nvPr/>
        </p:nvSpPr>
        <p:spPr>
          <a:xfrm>
            <a:off x="15244164" y="37125637"/>
            <a:ext cx="14790300" cy="409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야외활동, 도보여행, 자연</a:t>
            </a:r>
            <a:r>
              <a:rPr lang="en-US" sz="3200"/>
              <a:t> 등을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즐기는 외국인 관광객들에게</a:t>
            </a:r>
            <a:r>
              <a:rPr lang="en-US" sz="3200"/>
              <a:t>는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Topic 1, 2, 3에 해당하는 관광명소들을 연계해 </a:t>
            </a:r>
            <a:r>
              <a:rPr lang="en-US" sz="3200"/>
              <a:t>추천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하는 것이 적절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비 오는 날, 박물관 등의 문화시설을 선호하는 외국인 관광객들에게</a:t>
            </a:r>
            <a:r>
              <a:rPr lang="en-US" sz="3200"/>
              <a:t>는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Topic 4에 해당하는 관광명소를 추천하는 것이 적절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정적인 여행을 선호하는 외국인 관광객들에게</a:t>
            </a:r>
            <a:r>
              <a:rPr lang="en-US" sz="3200"/>
              <a:t>는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Topic 1과 Topic 4에 해당하는 관광명소를 연계해 </a:t>
            </a:r>
            <a:r>
              <a:rPr lang="en-US" sz="3200"/>
              <a:t>추천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하는 것이 적절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-"/>
            </a:pPr>
            <a:endParaRPr sz="900"/>
          </a:p>
          <a:p>
            <a:pPr marL="457200" marR="0" lvl="0" indent="-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00"/>
              <a:buChar char="-"/>
            </a:pPr>
            <a:r>
              <a:rPr lang="en-US" sz="3200"/>
              <a:t>본 연구 내용을 바탕으로 제주관광공사에 효율적인 외국인 관광 정책을 제안</a:t>
            </a:r>
            <a:endParaRPr sz="3200"/>
          </a:p>
        </p:txBody>
      </p:sp>
      <p:graphicFrame>
        <p:nvGraphicFramePr>
          <p:cNvPr id="126" name="Google Shape;126;p1"/>
          <p:cNvGraphicFramePr/>
          <p:nvPr>
            <p:extLst>
              <p:ext uri="{D42A27DB-BD31-4B8C-83A1-F6EECF244321}">
                <p14:modId xmlns:p14="http://schemas.microsoft.com/office/powerpoint/2010/main" val="2819358927"/>
              </p:ext>
            </p:extLst>
          </p:nvPr>
        </p:nvGraphicFramePr>
        <p:xfrm>
          <a:off x="597304" y="33696751"/>
          <a:ext cx="13938000" cy="6598550"/>
        </p:xfrm>
        <a:graphic>
          <a:graphicData uri="http://schemas.openxmlformats.org/drawingml/2006/table">
            <a:tbl>
              <a:tblPr firstRow="1" bandRow="1">
                <a:noFill/>
                <a:tableStyleId>{FB523CB8-A3DD-4EEA-BDBF-DB91CAE7AABC}</a:tableStyleId>
              </a:tblPr>
              <a:tblGrid>
                <a:gridCol w="348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8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8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8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3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295F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1</a:t>
                      </a:r>
                      <a:endParaRPr sz="3600" b="1" u="none" strike="noStrike" cap="none">
                        <a:solidFill>
                          <a:srgbClr val="295F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F68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295F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2</a:t>
                      </a:r>
                      <a:endParaRPr sz="3600" b="1" u="none" strike="noStrike" cap="none">
                        <a:solidFill>
                          <a:srgbClr val="295F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F68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295F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3</a:t>
                      </a:r>
                      <a:endParaRPr sz="3600" b="1" u="none" strike="noStrike" cap="none">
                        <a:solidFill>
                          <a:srgbClr val="295F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95F68"/>
                        </a:buClr>
                        <a:buSzPts val="3600"/>
                        <a:buFont typeface="Arial"/>
                        <a:buNone/>
                      </a:pPr>
                      <a:r>
                        <a:rPr lang="en-US" sz="3600" b="1" u="none" strike="noStrike" cap="none">
                          <a:solidFill>
                            <a:srgbClr val="295F68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4</a:t>
                      </a:r>
                      <a:endParaRPr sz="3600" b="1" u="none" strike="noStrike" cap="none">
                        <a:solidFill>
                          <a:srgbClr val="295F68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0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garden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Park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Tree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Flower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Bonsai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Plant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Anaimal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water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4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cave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Lava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Tube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Dark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Wet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Cold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Rock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Slippery</a:t>
                      </a:r>
                      <a:endParaRPr sz="2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4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Trail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View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Hike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Climb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Mountain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Hiking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Walk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hour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4E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Museum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Bear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Teddy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Car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Display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Exhibit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Floor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Art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Gift...</a:t>
                      </a:r>
                      <a:endParaRPr sz="2800" b="1" u="none" strike="noStrike" cap="none" dirty="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5E4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03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조경이 좋은 공간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화산 경관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>
                          <a:latin typeface="Arial"/>
                          <a:ea typeface="Arial"/>
                          <a:cs typeface="Arial"/>
                          <a:sym typeface="Arial"/>
                        </a:rPr>
                        <a:t>하이킹하기 좋은 공간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전시</a:t>
                      </a:r>
                      <a:r>
                        <a:rPr lang="en-US" sz="2400" b="1" u="none" strike="noStrike" cap="none" dirty="0">
                          <a:latin typeface="Arial"/>
                          <a:ea typeface="Arial"/>
                          <a:cs typeface="Arial"/>
                          <a:sym typeface="Arial"/>
                        </a:rPr>
                        <a:t> 및 </a:t>
                      </a:r>
                      <a:r>
                        <a:rPr lang="en-US" sz="2400" b="1" u="none" strike="noStrike" cap="none" dirty="0" err="1">
                          <a:latin typeface="Arial"/>
                          <a:ea typeface="Arial"/>
                          <a:cs typeface="Arial"/>
                          <a:sym typeface="Arial"/>
                        </a:rPr>
                        <a:t>실내체험</a:t>
                      </a:r>
                      <a:endParaRPr dirty="0"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27" name="Google Shape;127;p1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771702" y="5068697"/>
            <a:ext cx="6934771" cy="488752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8" name="Google Shape;128;p1"/>
          <p:cNvGraphicFramePr/>
          <p:nvPr>
            <p:extLst>
              <p:ext uri="{D42A27DB-BD31-4B8C-83A1-F6EECF244321}">
                <p14:modId xmlns:p14="http://schemas.microsoft.com/office/powerpoint/2010/main" val="2880487119"/>
              </p:ext>
            </p:extLst>
          </p:nvPr>
        </p:nvGraphicFramePr>
        <p:xfrm>
          <a:off x="15848544" y="14318483"/>
          <a:ext cx="13763425" cy="11280950"/>
        </p:xfrm>
        <a:graphic>
          <a:graphicData uri="http://schemas.openxmlformats.org/drawingml/2006/table">
            <a:tbl>
              <a:tblPr firstRow="1" bandRow="1">
                <a:noFill/>
                <a:tableStyleId>{FB523CB8-A3DD-4EEA-BDBF-DB91CAE7AABC}</a:tableStyleId>
              </a:tblPr>
              <a:tblGrid>
                <a:gridCol w="6886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6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6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1. 조경이 좋은 공간</a:t>
                      </a:r>
                      <a:endParaRPr sz="3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2. 화산경관</a:t>
                      </a:r>
                      <a:endParaRPr sz="3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8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6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3. 하이킹하기 좋은 공간</a:t>
                      </a:r>
                      <a:endParaRPr sz="3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3800" b="1" i="0" u="none" strike="noStrike" cap="non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Topic 4. 전시 및 실내체험</a:t>
                      </a:r>
                      <a:endParaRPr sz="3800" b="1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5FB3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400" u="none" strike="noStrike" cap="non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29" name="Google Shape;129;p1" descr="지도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5853624" y="15085822"/>
            <a:ext cx="6881638" cy="486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" descr="지도이(가) 표시된 사진&#10;&#10;자동 생성된 설명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2726015" y="15085822"/>
            <a:ext cx="6881638" cy="486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" descr="지도이(가) 표시된 사진&#10;&#10;자동 생성된 설명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853624" y="20722832"/>
            <a:ext cx="6881638" cy="486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"/>
          <p:cNvSpPr txBox="1"/>
          <p:nvPr/>
        </p:nvSpPr>
        <p:spPr>
          <a:xfrm>
            <a:off x="470528" y="5390936"/>
            <a:ext cx="13798800" cy="470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본 연구는 제주도 관광산업에서의 외국인 관광객 비중 증가를 고려해 Trip Advisor의 리뷰 데이터를 바탕으로 제주도에서 외국인 관광객의 방문이 높은 지역 및 관광명소를 파악</a:t>
            </a:r>
            <a:endParaRPr sz="3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000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토픽모델링을 </a:t>
            </a:r>
            <a:r>
              <a:rPr lang="en-US" sz="3200"/>
              <a:t>통한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제주도 전체에 대한 6개의 Topic</a:t>
            </a:r>
            <a:r>
              <a:rPr lang="en-US" sz="3200"/>
              <a:t> </a:t>
            </a:r>
            <a:r>
              <a:rPr lang="en-US" sz="3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추</a:t>
            </a:r>
            <a:r>
              <a:rPr lang="en-US" sz="3200"/>
              <a:t>출 및 관광 테마 지정</a:t>
            </a:r>
            <a:endParaRPr sz="3200"/>
          </a:p>
          <a:p>
            <a:pPr marL="457200" marR="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Char char="-"/>
            </a:pPr>
            <a:r>
              <a:rPr lang="en-US" sz="3200"/>
              <a:t>외국인 관광객이 선호하는 관광지에 대한 정량적 확인을 통한 관광정책 제언 </a:t>
            </a:r>
            <a:endParaRPr sz="3200"/>
          </a:p>
        </p:txBody>
      </p:sp>
      <p:pic>
        <p:nvPicPr>
          <p:cNvPr id="133" name="Google Shape;133;p1" descr="지도이(가) 표시된 사진&#10;&#10;자동 생성된 설명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2726016" y="20722832"/>
            <a:ext cx="6881638" cy="48650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" descr="지도이(가) 표시된 사진&#10;&#10;자동 생성된 설명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5731801" y="5091203"/>
            <a:ext cx="6931053" cy="486501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"/>
          <p:cNvSpPr txBox="1"/>
          <p:nvPr/>
        </p:nvSpPr>
        <p:spPr>
          <a:xfrm>
            <a:off x="15799875" y="11434725"/>
            <a:ext cx="13330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685050" y="9526575"/>
            <a:ext cx="13938000" cy="39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2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‘김녕미로 공원’, ‘만장굴’, ‘성산일출봉’, ‘테디베어 박물관’ 등에 외국인 관광객의 리뷰수 多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빈도분석 결과, 제주도의 자연환경과 실내 체험과 관련된 ‘walk’, ‘cave’, ‘see’, ‘good’, ‘time’, ‘park’, ‘nice’ 등의 대표 키워드를 통해 외국인 관광객의 자연경관과 실내 체험에 대한 높은 관심 확인</a:t>
            </a:r>
            <a:endParaRPr sz="3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just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‘good’, ‘nice’, ‘beautiful’ 키워드 제주도 관광을 긍정적으로 평가</a:t>
            </a:r>
            <a:endParaRPr sz="3200">
              <a:solidFill>
                <a:schemeClr val="dk1"/>
              </a:solidFill>
            </a:endParaRPr>
          </a:p>
        </p:txBody>
      </p:sp>
      <p:sp>
        <p:nvSpPr>
          <p:cNvPr id="137" name="Google Shape;137;p1"/>
          <p:cNvSpPr txBox="1"/>
          <p:nvPr/>
        </p:nvSpPr>
        <p:spPr>
          <a:xfrm>
            <a:off x="15303163" y="25744050"/>
            <a:ext cx="13330200" cy="69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조경이 좋은 공간을 선호하는 외국인 관광객의 관심도는 한림공원, 한라산 국립공원에 집중</a:t>
            </a:r>
            <a:endParaRPr sz="32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화산경관을 선호하는 외국인 관광객의 관심도는 대포 주상절리, 정방폭포에 집중</a:t>
            </a:r>
            <a:endParaRPr sz="32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하이킹 테마를 선호하는 외국인 관광객의 관심도는 김녕미로공원, 성산일출봉, 한라산국립공원에 집중</a:t>
            </a:r>
            <a:endParaRPr sz="32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전시 및 실내체험을 선호하는 외국인 관광객의 관심도는 테디베어 뮤지엄에 집중</a:t>
            </a:r>
            <a:endParaRPr sz="32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endParaRPr sz="900">
              <a:solidFill>
                <a:schemeClr val="dk1"/>
              </a:solidFill>
            </a:endParaRPr>
          </a:p>
          <a:p>
            <a:pPr marL="457200" lvl="0" indent="-4318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만장굴은 Topic1, 2, 3에서 공통적으로 관심도가 높은 관광명소</a:t>
            </a:r>
            <a:endParaRPr sz="3200">
              <a:solidFill>
                <a:schemeClr val="dk1"/>
              </a:solidFill>
            </a:endParaRPr>
          </a:p>
          <a:p>
            <a:pPr marL="45720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Char char="-"/>
            </a:pPr>
            <a:endParaRPr sz="900">
              <a:solidFill>
                <a:schemeClr val="dk1"/>
              </a:solidFill>
            </a:endParaRPr>
          </a:p>
          <a:p>
            <a:pPr marL="457200" lvl="0" indent="-450850" algn="just" rtl="0">
              <a:lnSpc>
                <a:spcPct val="107916"/>
              </a:lnSpc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3500"/>
              <a:buChar char="-"/>
            </a:pPr>
            <a:r>
              <a:rPr lang="en-US" sz="3200">
                <a:solidFill>
                  <a:schemeClr val="dk1"/>
                </a:solidFill>
              </a:rPr>
              <a:t>토픽 별 리뷰 수 차이가 존재. 즉, 관광객은 하이킹하기 좋은 공간 &gt; 화산지형 &gt; 조경이 좋은 공간 &gt; 전시 및 실내 체험 순으로 관광 테마를 선호</a:t>
            </a:r>
            <a:r>
              <a:rPr lang="en-US" sz="35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38" name="Google Shape;138;p1"/>
          <p:cNvSpPr txBox="1"/>
          <p:nvPr/>
        </p:nvSpPr>
        <p:spPr>
          <a:xfrm>
            <a:off x="15685050" y="4401688"/>
            <a:ext cx="4646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3200">
                <a:solidFill>
                  <a:schemeClr val="dk1"/>
                </a:solidFill>
              </a:rPr>
              <a:t>3. 전체 리뷰 분석</a:t>
            </a:r>
            <a:endParaRPr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39" name="Google Shape;139;p1"/>
          <p:cNvSpPr txBox="1"/>
          <p:nvPr/>
        </p:nvSpPr>
        <p:spPr>
          <a:xfrm>
            <a:off x="15197875" y="32831975"/>
            <a:ext cx="3013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5.연구결과</a:t>
            </a:r>
            <a:endParaRPr sz="3700"/>
          </a:p>
        </p:txBody>
      </p:sp>
      <p:sp>
        <p:nvSpPr>
          <p:cNvPr id="140" name="Google Shape;140;p1"/>
          <p:cNvSpPr txBox="1"/>
          <p:nvPr/>
        </p:nvSpPr>
        <p:spPr>
          <a:xfrm>
            <a:off x="15266463" y="33462050"/>
            <a:ext cx="13330200" cy="229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외국인 관광객은 제주도 전체 지역을 방문하기보다는 특정 지역을 제한적으로 방문, 하나의 관광구역 내에서도 특정 관광지만을 집중적으로 이용</a:t>
            </a:r>
            <a:endParaRPr sz="3200">
              <a:solidFill>
                <a:schemeClr val="dk1"/>
              </a:solidFill>
            </a:endParaRPr>
          </a:p>
          <a:p>
            <a:pPr marL="457200" lvl="0" indent="-40005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>
              <a:solidFill>
                <a:schemeClr val="dk1"/>
              </a:solidFill>
            </a:endParaRPr>
          </a:p>
          <a:p>
            <a:pPr marL="457200" lvl="0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-"/>
            </a:pPr>
            <a:r>
              <a:rPr lang="en-US" sz="3200">
                <a:solidFill>
                  <a:schemeClr val="dk1"/>
                </a:solidFill>
              </a:rPr>
              <a:t>추출한 관광테마가 주로 자연경관과 관련</a:t>
            </a:r>
            <a:endParaRPr>
              <a:latin typeface="Gulim"/>
              <a:ea typeface="Gulim"/>
              <a:cs typeface="Gulim"/>
              <a:sym typeface="Gulim"/>
            </a:endParaRPr>
          </a:p>
        </p:txBody>
      </p:sp>
      <p:sp>
        <p:nvSpPr>
          <p:cNvPr id="141" name="Google Shape;141;p1"/>
          <p:cNvSpPr txBox="1"/>
          <p:nvPr/>
        </p:nvSpPr>
        <p:spPr>
          <a:xfrm>
            <a:off x="15756475" y="13560975"/>
            <a:ext cx="6881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/>
              <a:t>4. 핫스팟 분석</a:t>
            </a:r>
            <a:endParaRPr sz="3200"/>
          </a:p>
        </p:txBody>
      </p:sp>
      <p:pic>
        <p:nvPicPr>
          <p:cNvPr id="142" name="Google Shape;142;p1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75" y="19520125"/>
            <a:ext cx="15138925" cy="85156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81D0D6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570</Words>
  <Application>Microsoft Office PowerPoint</Application>
  <PresentationFormat>사용자 지정</PresentationFormat>
  <Paragraphs>119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Noto Sans Symbols</vt:lpstr>
      <vt:lpstr>Gulim</vt:lpstr>
      <vt:lpstr>Malgun Gothic</vt:lpstr>
      <vt:lpstr>Arial</vt:lpstr>
      <vt:lpstr>기본 디자인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이정민, 김태희</dc:creator>
  <cp:lastModifiedBy>dajomi</cp:lastModifiedBy>
  <cp:revision>1</cp:revision>
  <dcterms:created xsi:type="dcterms:W3CDTF">2007-11-30T07:09:34Z</dcterms:created>
  <dcterms:modified xsi:type="dcterms:W3CDTF">2026-03-08T06:53:47Z</dcterms:modified>
</cp:coreProperties>
</file>